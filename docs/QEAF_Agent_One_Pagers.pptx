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55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Accenture</a:t>
            </a:r>
            <a:r>
              <a:rPr sz="1800" b="1">
                <a:solidFill>
                  <a:srgbClr val="A100FF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64592"/>
            <a:ext cx="1645920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59568" y="182880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Segoe UI"/>
              </a:rPr>
              <a:t>AI-POWERED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88952" cy="1417320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2412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FFFFFF"/>
                </a:solidFill>
                <a:latin typeface="Segoe UI"/>
              </a:rPr>
              <a:t>Standalone </a:t>
            </a:r>
            <a:r>
              <a:rPr sz="2800" b="1">
                <a:solidFill>
                  <a:srgbClr val="A100FF"/>
                </a:solidFill>
                <a:latin typeface="Segoe UI"/>
              </a:rPr>
              <a:t>Automation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27632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Segoe UI"/>
              </a:rPr>
              <a:t>An intelligent AI agent that generates production-ready test automation scripts that integrate seamlessly
into your existing framework — learning your team's patterns, conventions, and architecture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Segoe UI"/>
              </a:rPr>
              <a:t>Quality Engineering Agentic Framework  |  Accenture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Segoe UI"/>
              </a:rPr>
              <a:t>© 2025 Accenture. All rights reserved.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2395728"/>
            <a:ext cx="121889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468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100FF"/>
                </a:solidFill>
                <a:latin typeface="Segoe UI"/>
              </a:rPr>
              <a:t>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34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  <a:latin typeface="Segoe UI"/>
              </a:rPr>
              <a:t>LANGUAGES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468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100FF"/>
                </a:solidFill>
                <a:latin typeface="Segoe UI"/>
              </a:rPr>
              <a:t>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34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  <a:latin typeface="Segoe UI"/>
              </a:rPr>
              <a:t>FRAMEWORKS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68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100FF"/>
                </a:solidFill>
                <a:latin typeface="Segoe UI"/>
              </a:rPr>
              <a:t>3-step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834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  <a:latin typeface="Segoe UI"/>
              </a:rPr>
              <a:t>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468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100FF"/>
                </a:solidFill>
                <a:latin typeface="Segoe UI"/>
              </a:rPr>
              <a:t>Auto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834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  <a:latin typeface="Segoe UI"/>
              </a:rPr>
              <a:t>SELF-HEALING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26080"/>
            <a:ext cx="3749039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926080"/>
            <a:ext cx="45720" cy="12801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2990088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WHAT IS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1546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Segoe UI"/>
              </a:rPr>
              <a:t>An AI agent within Accenture's QEAF that reads your existing automation project — its structure, page objects, helpers, and conventions — then generates scripts that fit natively into your framework. Supports local (on-server) and remote (cloud-hosted) delivery.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15968"/>
            <a:ext cx="3749039" cy="1965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4315968"/>
            <a:ext cx="45720" cy="19659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4379976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KEY 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44568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Framework Profiling — auto-detects language &amp; framework from project markers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Pattern Learning — extracts real class names, method signatures, page objects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Style Replication — mirrors fixture patterns, locators, assertion style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Self-Healing — validates syntax; auto-requests LLM fixes (up to 2 passes)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Multi-Host Fallback — adapts prompt size for small-context environments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Dual Delivery — local disk write or remote base64 file map for cloud MCP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92608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06240" y="2926080"/>
            <a:ext cx="45720" cy="1417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15968" y="299008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HOW IT 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3154680"/>
            <a:ext cx="3703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① Profile Framework  →  scan markers, detect language &amp; framework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② Extract Patterns  →  collect class/method names, page objects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③ Build Adaptive Prompt  →  learn style or apply best practices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④ Generate Code  →  full files with imports, classes, assertions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⑤ Validate &amp; Heal  →  syntax check + auto LLM fix loop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⑥ Review &amp; Apply  →  diff + Allow/Skip before writing files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4462272"/>
            <a:ext cx="1828800" cy="1810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206240" y="4462272"/>
            <a:ext cx="45720" cy="181051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15968" y="45262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INPUTS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4681728"/>
            <a:ext cx="1645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Test cases (JSON or text)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Automation type: UI / API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Project path or file map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Optional: DOM, API details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44768" y="4462272"/>
            <a:ext cx="1993392" cy="181051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144768" y="4462272"/>
            <a:ext cx="45720" cy="181051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54496" y="4526280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OUTPUTS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681728"/>
            <a:ext cx="1783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Runnable test scripts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Validation report (per-file)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Healing log (auto-fix record)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Review mode (diff + Allow/Skip)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21040" y="2926080"/>
            <a:ext cx="3566160" cy="33467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21040" y="2926080"/>
            <a:ext cx="45720" cy="33467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30768" y="299008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BUSINESS BENEFITS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318211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⚡ Faster Delivery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85632" y="336499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Hours → minutes for new test scripts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36576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🔁 Zero Divergence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85632" y="38404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Code fits existing project; no refactor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85632" y="413308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🛡️ Consistent Quality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5632" y="431596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Enforces team conventions automatically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5632" y="460857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☁️ Cloud-Ready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479145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Hosted MCP; no local setup required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85632" y="508406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🔍 Full Traceability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526694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Validation report + healing log per run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555955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🤖 Greenfield Support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57424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Best-practice standards when no base exists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6236208"/>
            <a:ext cx="7863840" cy="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74320" y="6236208"/>
            <a:ext cx="45720" cy="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84048" y="6300216"/>
            <a:ext cx="7680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LANGUAGES &amp; FRAMEWORKS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6144768"/>
            <a:ext cx="786384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56616" y="61539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Python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70432" y="6144768"/>
            <a:ext cx="63093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207008" y="6153912"/>
            <a:ext cx="576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Java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865376" y="6144768"/>
            <a:ext cx="13304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901952" y="6153912"/>
            <a:ext cx="12755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JavaScript/TS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59836" y="6144768"/>
            <a:ext cx="47548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296412" y="6153912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C#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9332" y="6144768"/>
            <a:ext cx="94183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835908" y="6153912"/>
            <a:ext cx="886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Selenium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05172" y="6144768"/>
            <a:ext cx="109728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841748" y="6153912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Playwright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66460" y="6144768"/>
            <a:ext cx="86410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003036" y="6153912"/>
            <a:ext cx="8092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Cypress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94576" y="6144768"/>
            <a:ext cx="1175004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931152" y="6153912"/>
            <a:ext cx="11201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RestAssured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33588" y="6144768"/>
            <a:ext cx="94183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170164" y="6153912"/>
            <a:ext cx="886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requests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39428" y="6144768"/>
            <a:ext cx="101955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176004" y="6153912"/>
            <a:ext cx="9646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supertest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22992" y="6144768"/>
            <a:ext cx="109728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259568" y="6153912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MCP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"/>
              </a:rPr>
              <a:t>Accenture</a:t>
            </a:r>
            <a:r>
              <a:rPr sz="1800" b="1">
                <a:solidFill>
                  <a:srgbClr val="A100FF"/>
                </a:solidFill>
                <a:latin typeface="Segoe UI"/>
              </a:rPr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0" y="164592"/>
            <a:ext cx="1645920" cy="34747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59568" y="182880"/>
            <a:ext cx="16276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Segoe UI"/>
              </a:rPr>
              <a:t>AI-POWERED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78408"/>
            <a:ext cx="12188952" cy="1417320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24128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FFFFFF"/>
                </a:solidFill>
                <a:latin typeface="Segoe UI"/>
              </a:rPr>
              <a:t>Test </a:t>
            </a:r>
            <a:r>
              <a:rPr sz="2800" b="1">
                <a:solidFill>
                  <a:srgbClr val="A100FF"/>
                </a:solidFill>
                <a:latin typeface="Segoe UI"/>
              </a:rPr>
              <a:t>Analyser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27632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CCCC"/>
                </a:solidFill>
                <a:latin typeface="Segoe UI"/>
              </a:rPr>
              <a:t>An intelligent AI agent that reads your existing test project, understands every test's intent, and exports
a professionally styled Excel workbook — turning automation code into stakeholder-ready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Segoe UI"/>
              </a:rPr>
              <a:t>Quality Engineering Agentic Framework  |  Accenture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10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66666"/>
                </a:solidFill>
                <a:latin typeface="Segoe UI"/>
              </a:rPr>
              <a:t>© 2025 Accenture. All rights reserved.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2395728"/>
            <a:ext cx="121889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468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100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34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  <a:latin typeface="Segoe UI"/>
              </a:rPr>
              <a:t>OUTPUT FORMATS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468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100FF"/>
                </a:solidFill>
                <a:latin typeface="Segoe UI"/>
              </a:rPr>
              <a:t>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834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  <a:latin typeface="Segoe UI"/>
              </a:rPr>
              <a:t>TESTS /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68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100FF"/>
                </a:solidFill>
                <a:latin typeface="Segoe UI"/>
              </a:rPr>
              <a:t>4+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834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  <a:latin typeface="Segoe UI"/>
              </a:rPr>
              <a:t>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4688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100FF"/>
                </a:solidFill>
                <a:latin typeface="Segoe UI"/>
              </a:rPr>
              <a:t>Read-Only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834640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AAAAAA"/>
                </a:solidFill>
                <a:latin typeface="Segoe UI"/>
              </a:rPr>
              <a:t>ZERO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26080"/>
            <a:ext cx="3749039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2926080"/>
            <a:ext cx="45720" cy="12801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2990088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WHAT IS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315468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66666"/>
                </a:solidFill>
                <a:latin typeface="Segoe UI"/>
              </a:rPr>
              <a:t>A read-only AI agent within Accenture's QEAF. It scans your test automation project, extracts every test method, and uses LLM batch conversion to produce a professionally styled Excel workbook — ready to share with PMs, BA teams, or auditors without any manual editing.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315968"/>
            <a:ext cx="3749039" cy="1965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4315968"/>
            <a:ext cx="45720" cy="19659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84048" y="4379976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KEY CAPABILITIES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44568"/>
            <a:ext cx="3520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Language Auto-Detection — identifies Python, Java, JS/TS, C# from markers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Test Discovery — finds all test methods with class, file, and line number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LLM Batch Conversion — groups tests in 15s; AI generates readable descriptions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Large Project Handling — folder-level counts + user selection for &gt;20 files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Graceful Fallback — readable stubs if LLM fails on any batch</a:t>
            </a:r>
          </a:p>
          <a:p>
            <a:pPr algn="l">
              <a:spcBef>
                <a:spcPts val="200"/>
              </a:spcBef>
            </a:pPr>
            <a:r>
              <a:rPr sz="900" b="0">
                <a:solidFill>
                  <a:srgbClr val="1A1A1A"/>
                </a:solidFill>
                <a:latin typeface="Segoe UI"/>
              </a:rPr>
              <a:t>• Dual Delivery — writes .xlsx to disk or returns base64 bytes for cloud use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926080"/>
            <a:ext cx="39319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06240" y="2926080"/>
            <a:ext cx="45720" cy="141732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15968" y="2990088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OUTPUT FORMATS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3154680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100FF"/>
                </a:solidFill>
                <a:latin typeface="Segoe UI"/>
              </a:rPr>
              <a:t>BDD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3337560"/>
            <a:ext cx="3703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Segoe UI"/>
              </a:rPr>
              <a:t>Feature · Scenario · Given · When · Then · Tags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3557016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100FF"/>
                </a:solidFill>
                <a:latin typeface="Segoe UI"/>
              </a:rPr>
              <a:t>Plain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3739896"/>
            <a:ext cx="3703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Segoe UI"/>
              </a:rPr>
              <a:t>Test ID · Title · Preconditions · Steps · Expected · Priority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0832" y="3959352"/>
            <a:ext cx="3703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100FF"/>
                </a:solidFill>
                <a:latin typeface="Segoe UI"/>
              </a:rPr>
              <a:t>Step-by-Step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0832" y="4142232"/>
            <a:ext cx="3703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Segoe UI"/>
              </a:rPr>
              <a:t>Test ID · Title · Step # · Action · Expected Result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462272"/>
            <a:ext cx="393192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06240" y="4462272"/>
            <a:ext cx="45720" cy="128016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15968" y="4526280"/>
            <a:ext cx="3749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HOW IT WORKS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2" y="4681728"/>
            <a:ext cx="3703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① Detect Language  →  check project markers &amp; file extensions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② Discover Test Files  →  walk project, extract test methods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③ Elicit Selection  →  folder counts shown if &gt;20 files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④ LLM Batch Convert  →  batches of 15 → structured descriptions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⑤ Build Rows  →  merge LLM output with source metadata</a:t>
            </a:r>
          </a:p>
          <a:p>
            <a:pPr algn="l"/>
            <a:r>
              <a:rPr sz="880" b="0">
                <a:solidFill>
                  <a:srgbClr val="1A1A1A"/>
                </a:solidFill>
                <a:latin typeface="Segoe UI"/>
              </a:rPr>
              <a:t>⑥ Style &amp; Export  →  styled xlsx with headers, colors, filters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5833872"/>
            <a:ext cx="1828800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06240" y="5833872"/>
            <a:ext cx="45720" cy="47548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15968" y="58978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INPUTS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2" y="603504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50" b="0">
                <a:solidFill>
                  <a:srgbClr val="1A1A1A"/>
                </a:solidFill>
                <a:latin typeface="Segoe UI"/>
              </a:rPr>
              <a:t>• Project path or file map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A1A1A"/>
                </a:solidFill>
                <a:latin typeface="Segoe UI"/>
              </a:rPr>
              <a:t>• Format: bdd / plain / step_by_step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A1A1A"/>
                </a:solidFill>
                <a:latin typeface="Segoe UI"/>
              </a:rPr>
              <a:t>• Optional: language, output path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5833872"/>
            <a:ext cx="1993392" cy="4754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44768" y="5833872"/>
            <a:ext cx="45720" cy="47548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54496" y="5897880"/>
            <a:ext cx="1810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OUTPUTS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6035040"/>
            <a:ext cx="1783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50" b="0">
                <a:solidFill>
                  <a:srgbClr val="1A1A1A"/>
                </a:solidFill>
                <a:latin typeface="Segoe UI"/>
              </a:rPr>
              <a:t>• Styled Excel (.xlsx) workbook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A1A1A"/>
                </a:solidFill>
                <a:latin typeface="Segoe UI"/>
              </a:rPr>
              <a:t>• Test count + feature list</a:t>
            </a:r>
          </a:p>
          <a:p>
            <a:pPr algn="l">
              <a:spcBef>
                <a:spcPts val="200"/>
              </a:spcBef>
            </a:pPr>
            <a:r>
              <a:rPr sz="850" b="0">
                <a:solidFill>
                  <a:srgbClr val="1A1A1A"/>
                </a:solidFill>
                <a:latin typeface="Segoe UI"/>
              </a:rPr>
              <a:t>• Summary (e.g. '47 tests, 5 classes')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21040" y="2926080"/>
            <a:ext cx="3566160" cy="334670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321040" y="2926080"/>
            <a:ext cx="45720" cy="33467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30768" y="299008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BUSINESS BENEFITS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85632" y="318211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📋 Instant Documentation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85632" y="336499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Code → readable specs in minutes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3657600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🤝 Stakeholder Visibility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3840480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Excel every stakeholder can open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85632" y="4133088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✅ Audit-Ready 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85632" y="4315968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Structured, formatted, shareable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85632" y="4608576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🔒 Zero Risk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85632" y="479145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Read-only — never modifies project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85632" y="508406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📊 BDD &amp; PM-Friendly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85632" y="5266944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Three formats match any team process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85632" y="555955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🔁 Large Scale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85632" y="5742432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Handles 500+ tests with folder controls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6144768"/>
            <a:ext cx="786384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56616" y="61539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Python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70432" y="6144768"/>
            <a:ext cx="630936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207008" y="6153912"/>
            <a:ext cx="576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Java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65376" y="6144768"/>
            <a:ext cx="133045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901952" y="6153912"/>
            <a:ext cx="127558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JavaScript/TS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59836" y="6144768"/>
            <a:ext cx="47548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296412" y="6153912"/>
            <a:ext cx="42062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C#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99332" y="6144768"/>
            <a:ext cx="786384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835908" y="6153912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pytest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49724" y="6144768"/>
            <a:ext cx="1252728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686300" y="6153912"/>
            <a:ext cx="119786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JUnit/TestNG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966460" y="6144768"/>
            <a:ext cx="109728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003036" y="6153912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Jest/Mocha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127748" y="6144768"/>
            <a:ext cx="70866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164324" y="6153912"/>
            <a:ext cx="6537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NUnit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900416" y="6144768"/>
            <a:ext cx="941832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936992" y="6153912"/>
            <a:ext cx="8869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openpyxl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06256" y="6144768"/>
            <a:ext cx="1097280" cy="25603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942832" y="6153912"/>
            <a:ext cx="1042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MCP 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Accenture</a:t>
            </a:r>
            <a:r>
              <a:rPr sz="1500" b="1">
                <a:solidFill>
                  <a:srgbClr val="A100FF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Segoe UI"/>
              </a:rPr>
              <a:t>QUALITY ENGINEERING AGENTIC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78440" y="128016"/>
            <a:ext cx="1554480" cy="292608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96728" y="146304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100FF"/>
                </a:solidFill>
                <a:latin typeface="Segoe UI"/>
              </a:rPr>
              <a:t>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"/>
            <a:ext cx="12188952" cy="566928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713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Segoe UI"/>
              </a:rPr>
              <a:t>Standalone </a:t>
            </a:r>
            <a:r>
              <a:rPr sz="2000" b="1">
                <a:solidFill>
                  <a:srgbClr val="A100FF"/>
                </a:solidFill>
                <a:latin typeface="Segoe UI"/>
              </a:rPr>
              <a:t>Automation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777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0088"/>
                </a:solidFill>
                <a:latin typeface="Segoe UI"/>
              </a:rPr>
              <a:t>HIGH-LEVEL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43584"/>
            <a:ext cx="121889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1967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Segoe UI"/>
              </a:rPr>
              <a:t>Quality Engineering Agentic Framework  |  Accenture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196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Segoe UI"/>
              </a:rPr>
              <a:t>© 2025 Accenture. All rights reserved.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35024"/>
            <a:ext cx="1508760" cy="4261104"/>
          </a:xfrm>
          <a:prstGeom prst="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1335024"/>
            <a:ext cx="50292" cy="4261104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1335024"/>
            <a:ext cx="1508760" cy="36576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1408176"/>
            <a:ext cx="1380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266DD"/>
                </a:solidFill>
                <a:latin typeface="Segoe UI"/>
              </a:rPr>
              <a:t>INPUTS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00784"/>
            <a:ext cx="1325880" cy="18288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1773936"/>
            <a:ext cx="1371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Test cases (JSON or text)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Automation type: UI / API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Project path or file map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Optional: DOM snapshot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Optional: API base URL / auth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Language override (optional)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61616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38985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916353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893722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984248" y="1335024"/>
            <a:ext cx="1417320" cy="4261104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984248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984248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75688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75688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Framework
Profiler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75688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75688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Scan project markers
(pom.xml, package.json)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Auto-detect language
&amp; test framework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Map directory layout
and file structure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Identify module system
(ESM vs CommonJS)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580104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557473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534841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512210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566160" y="1335024"/>
            <a:ext cx="1417320" cy="4261104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566160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566160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0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Pattern
Extractor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0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Extract class &amp; method
signatures from project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Index page objects,
API clients, helpers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Select sample test
for style analysis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Discover config files
(base URL, auth scheme)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162016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139385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16753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094122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148072" y="1335024"/>
            <a:ext cx="1417320" cy="4261104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148072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48072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39512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Adaptive
Prompt Builder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39512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39512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Learn team coding style
&amp; fixture conventions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Build adaptive prompt
with style contract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Apply 3-step fallback
ladder (full→lean→min)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Cap context to prevent
host rejection errors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743928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721297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698665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676034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729984" y="1335024"/>
            <a:ext cx="1417320" cy="4261104"/>
          </a:xfrm>
          <a:prstGeom prst="rect">
            <a:avLst/>
          </a:prstGeom>
          <a:solidFill>
            <a:srgbClr val="D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729984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729984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21424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21424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LLM Code
Generator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21424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821424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Generate complete test
scripts per language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Reuses only real
methods from codebase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Full imports, classes,
assertions included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Powered by Claude /
Copilot via MCP host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47304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325840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303209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280577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257946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311896" y="1335024"/>
            <a:ext cx="1417320" cy="4261104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311896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311896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403336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03336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Validate
&amp; Heal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03336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403336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Static syntax / parse
check on every file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Auto-request LLM fix
for broken files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Up to 2 healing passes
per file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Produce validation
report + healing log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729216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907752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885121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862489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839858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930384" y="1335024"/>
            <a:ext cx="1828800" cy="4261104"/>
          </a:xfrm>
          <a:prstGeom prst="rect">
            <a:avLst/>
          </a:prstGeom>
          <a:solidFill>
            <a:srgbClr val="E5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930384" y="1335024"/>
            <a:ext cx="50292" cy="426110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930384" y="1335024"/>
            <a:ext cx="1828800" cy="36576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021824" y="1408176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AA66"/>
                </a:solidFill>
                <a:latin typeface="Segoe UI"/>
              </a:rPr>
              <a:t>OUTPUTS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21824" y="1700784"/>
            <a:ext cx="1645920" cy="18288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021824" y="1773936"/>
            <a:ext cx="169164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Runnable test scripts
(Python / Java / JS / C#)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Validation report
(per-file syntax status)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Healing log
(auto-fix record)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Review mode: diff +
Allow/Skip per file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Or: direct apply
to disk (local mode)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5687568"/>
            <a:ext cx="12188952" cy="512064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0" y="5687568"/>
            <a:ext cx="12188952" cy="274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20040" y="58247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INTEGRATIONS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17320" y="5779008"/>
            <a:ext cx="1826056" cy="310896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481328" y="5797296"/>
            <a:ext cx="1734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MCP Server (hosted)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34816" y="5779008"/>
            <a:ext cx="2129637" cy="310896"/>
          </a:xfrm>
          <a:prstGeom prst="rect">
            <a:avLst/>
          </a:prstGeom>
          <a:solidFill>
            <a:srgbClr val="5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398824" y="5797296"/>
            <a:ext cx="203819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Claude / GitHub Copilot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55893" y="5779008"/>
            <a:ext cx="2281428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619901" y="5797296"/>
            <a:ext cx="21899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Sampling + Token Fallback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28761" y="5779008"/>
            <a:ext cx="1977847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992769" y="5797296"/>
            <a:ext cx="1886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Selenium / Playwright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998048" y="5779008"/>
            <a:ext cx="1977847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062056" y="5797296"/>
            <a:ext cx="1886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Cypress / RestAssured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2067335" y="5779008"/>
            <a:ext cx="1674266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2131343" y="5797296"/>
            <a:ext cx="158282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VS Code Extension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Accenture</a:t>
            </a:r>
            <a:r>
              <a:rPr sz="1500" b="1">
                <a:solidFill>
                  <a:srgbClr val="A100FF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Segoe UI"/>
              </a:rPr>
              <a:t>QUALITY ENGINEERING AGENTIC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78440" y="128016"/>
            <a:ext cx="1554480" cy="292608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96728" y="146304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100FF"/>
                </a:solidFill>
                <a:latin typeface="Segoe UI"/>
              </a:rPr>
              <a:t>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"/>
            <a:ext cx="12188952" cy="566928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713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Segoe UI"/>
              </a:rPr>
              <a:t>Test </a:t>
            </a:r>
            <a:r>
              <a:rPr sz="2000" b="1">
                <a:solidFill>
                  <a:srgbClr val="A100FF"/>
                </a:solidFill>
                <a:latin typeface="Segoe UI"/>
              </a:rPr>
              <a:t>Analyser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777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0088"/>
                </a:solidFill>
                <a:latin typeface="Segoe UI"/>
              </a:rPr>
              <a:t>HIGH-LEVEL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43584"/>
            <a:ext cx="121889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1967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Segoe UI"/>
              </a:rPr>
              <a:t>Quality Engineering Agentic Framework  |  Accenture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196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Segoe UI"/>
              </a:rPr>
              <a:t>© 2025 Accenture. All rights reserved.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335024"/>
            <a:ext cx="1508760" cy="4261104"/>
          </a:xfrm>
          <a:prstGeom prst="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4320" y="1335024"/>
            <a:ext cx="50292" cy="4261104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1335024"/>
            <a:ext cx="1508760" cy="36576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1408176"/>
            <a:ext cx="13807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266DD"/>
                </a:solidFill>
                <a:latin typeface="Segoe UI"/>
              </a:rPr>
              <a:t>INPUTS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1700784"/>
            <a:ext cx="1325880" cy="18288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1773936"/>
            <a:ext cx="137160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Project path (local)
or file map (remote)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Output format:
bdd / plain / step_by_step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Language override
(optional)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Output path
(optional)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max_tests cap
(default: 500)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961616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938985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916353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893722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984248" y="1335024"/>
            <a:ext cx="1417320" cy="4261104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984248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984248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75688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75688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Language
Detector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75688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75688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Check project markers
(pom.xml → java, etc.)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Scan file extensions
if no markers found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Identify test framework
(pytest, JUnit, Jest…)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Fall back to Python
if language unknown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01568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580104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557473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534841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512210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566160" y="1335024"/>
            <a:ext cx="1417320" cy="4261104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566160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566160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657600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Test
Discovery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0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0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Walk project files
(disk or file map)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Filter to test files
using per-lang regex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Extract test method
names + line numbers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Record class name
and file path per test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83480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162016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139385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116753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094122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148072" y="1335024"/>
            <a:ext cx="1417320" cy="4261104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5148072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148072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239512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39512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Scope
Selector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39512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239512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Count tests per folder
for large projects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Elicit folder selection
when &gt;20 test files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Apply max_tests cap
(default 500)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Confirm scope before
LLM processing begins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65392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743928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721297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698665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676034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729984" y="1335024"/>
            <a:ext cx="1417320" cy="4261104"/>
          </a:xfrm>
          <a:prstGeom prst="rect">
            <a:avLst/>
          </a:prstGeom>
          <a:solidFill>
            <a:srgbClr val="D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729984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729984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821424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21424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LLM Batch
Converter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21424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821424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Group tests in
batches of 15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Convert each batch to
BDD / plain / step format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Parse JSON response
from model output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Fallback to readable
stubs on failure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147304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325840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303209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280577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257946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311896" y="1335024"/>
            <a:ext cx="1417320" cy="4261104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311896" y="1335024"/>
            <a:ext cx="50292" cy="42611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311896" y="1335024"/>
            <a:ext cx="1417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403336" y="1389888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05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03336" y="16459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1A1A"/>
                </a:solidFill>
                <a:latin typeface="Segoe UI"/>
              </a:rPr>
              <a:t>Excel
Builder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403336" y="2139696"/>
            <a:ext cx="1234440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403336" y="2203704"/>
            <a:ext cx="1280160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Merge LLM output with
source file metadata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Expand step arrays
for step-by-step format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Apply professional
styles via openpyxl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Headers, alt-row colors,
frozen row, auto-filter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729216" y="3429000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907752" y="3337560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885121" y="3401568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862489" y="3465576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839858" y="3529584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930384" y="1335024"/>
            <a:ext cx="1828800" cy="4261104"/>
          </a:xfrm>
          <a:prstGeom prst="rect">
            <a:avLst/>
          </a:prstGeom>
          <a:solidFill>
            <a:srgbClr val="E5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930384" y="1335024"/>
            <a:ext cx="50292" cy="426110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930384" y="1335024"/>
            <a:ext cx="1828800" cy="36576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10021824" y="1408176"/>
            <a:ext cx="1700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AA66"/>
                </a:solidFill>
                <a:latin typeface="Segoe UI"/>
              </a:rPr>
              <a:t>OUTPUTS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21824" y="1700784"/>
            <a:ext cx="1645920" cy="18288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021824" y="1773936"/>
            <a:ext cx="1691640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Styled Excel .xlsx
(BDD / plain / step-by-step)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Total test count
&amp; feature list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Summary string
(e.g. '47 tests, 5 classes')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Base64 bytes (remote)
or disk file (local)</a:t>
            </a:r>
          </a:p>
          <a:p>
            <a:pPr algn="l">
              <a:spcBef>
                <a:spcPts val="200"/>
              </a:spcBef>
            </a:pPr>
            <a:r>
              <a:rPr sz="819" b="0">
                <a:solidFill>
                  <a:srgbClr val="333344"/>
                </a:solidFill>
                <a:latin typeface="Segoe UI"/>
              </a:rPr>
              <a:t>• Read-only: source
project unchanged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0" y="5687568"/>
            <a:ext cx="12188952" cy="512064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0" y="5687568"/>
            <a:ext cx="12188952" cy="274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20040" y="58247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INTEGRATIONS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417320" y="5779008"/>
            <a:ext cx="1826056" cy="310896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481328" y="5797296"/>
            <a:ext cx="1734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MCP Server (hosted)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34816" y="5779008"/>
            <a:ext cx="2129637" cy="310896"/>
          </a:xfrm>
          <a:prstGeom prst="rect">
            <a:avLst/>
          </a:prstGeom>
          <a:solidFill>
            <a:srgbClr val="5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398824" y="5797296"/>
            <a:ext cx="203819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Claude / GitHub Copilot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55893" y="5779008"/>
            <a:ext cx="2129637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619901" y="5797296"/>
            <a:ext cx="203819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openpyxl (Excel engine)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776970" y="5779008"/>
            <a:ext cx="1977847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840978" y="5797296"/>
            <a:ext cx="1886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pytest / JUnit / Jest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46257" y="5779008"/>
            <a:ext cx="1446580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910265" y="5797296"/>
            <a:ext cx="13551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NUnit / MSTest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1384277" y="5779008"/>
            <a:ext cx="1674266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1448285" y="5797296"/>
            <a:ext cx="158282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VS Code Extension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Accenture</a:t>
            </a:r>
            <a:r>
              <a:rPr sz="1500" b="1">
                <a:solidFill>
                  <a:srgbClr val="A100FF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6304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777777"/>
                </a:solidFill>
                <a:latin typeface="Segoe UI"/>
              </a:rPr>
              <a:t>QUALITY ENGINEERING AGENTIC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78440" y="128016"/>
            <a:ext cx="1554480" cy="292608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96728" y="146304"/>
            <a:ext cx="15179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100FF"/>
                </a:solidFill>
                <a:latin typeface="Segoe UI"/>
              </a:rPr>
              <a:t>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6656"/>
            <a:ext cx="12188952" cy="566928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713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A1A1A"/>
                </a:solidFill>
                <a:latin typeface="Segoe UI"/>
              </a:rPr>
              <a:t>QEAF </a:t>
            </a:r>
            <a:r>
              <a:rPr sz="2000" b="1">
                <a:solidFill>
                  <a:srgbClr val="A100FF"/>
                </a:solidFill>
                <a:latin typeface="Segoe UI"/>
              </a:rPr>
              <a:t>End-to-End Agent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7772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440088"/>
                </a:solidFill>
                <a:latin typeface="Segoe UI"/>
              </a:rPr>
              <a:t>COMBINED AGENT ARCHITECTURE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1243584"/>
            <a:ext cx="121889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651967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Segoe UI"/>
              </a:rPr>
              <a:t>Quality Engineering Agentic Framework  |  Accenture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196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Segoe UI"/>
              </a:rPr>
              <a:t>© 2025 Accenture. All rights reserved.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261872"/>
            <a:ext cx="12188952" cy="256032"/>
          </a:xfrm>
          <a:prstGeom prst="rect">
            <a:avLst/>
          </a:prstGeom>
          <a:solidFill>
            <a:srgbClr val="E8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1261872"/>
            <a:ext cx="54864" cy="2560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" y="1307592"/>
            <a:ext cx="4114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Segoe UI"/>
              </a:rPr>
              <a:t>① TEST ANALYSER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316736"/>
            <a:ext cx="7589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Segoe UI"/>
              </a:rPr>
              <a:t>Reads your existing test project and exports structured test case specifications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517904"/>
            <a:ext cx="1170432" cy="1536192"/>
          </a:xfrm>
          <a:prstGeom prst="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1517904"/>
            <a:ext cx="45720" cy="1536192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1517904"/>
            <a:ext cx="1170432" cy="32004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6616" y="156362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66DD"/>
                </a:solidFill>
                <a:latin typeface="Segoe UI"/>
              </a:rPr>
              <a:t>INPUT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6616" y="1810512"/>
            <a:ext cx="1005840" cy="18288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616" y="1865376"/>
            <a:ext cx="1051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Test project
(path / file map)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Format choice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Language override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44752" y="2249424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23288" y="2157984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600657" y="2221992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578025" y="2286000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555394" y="2350008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600200" y="1517904"/>
            <a:ext cx="1517904" cy="1536192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00200" y="1517904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600200" y="1517904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82496" y="155448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82496" y="1719072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Language
Detector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82496" y="2093976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82496" y="2139696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Detect from project markers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Identify test framework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18104" y="2249424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296640" y="2157984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74009" y="2221992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251377" y="2286000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28746" y="2350008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64408" y="1517904"/>
            <a:ext cx="1517904" cy="1536192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64408" y="1517904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64408" y="1517904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46704" y="155448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6704" y="1719072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Test
Discovery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46704" y="2093976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46704" y="2139696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Walk files, extract methods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Capture class + line numbers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82312" y="2249424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960848" y="2157984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4938217" y="2221992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915585" y="2286000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892954" y="2350008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928616" y="1517904"/>
            <a:ext cx="1517904" cy="1536192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928616" y="1517904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928616" y="1517904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10912" y="155448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10912" y="1719072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Scope
Selector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10912" y="2093976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10912" y="2139696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Folder counts for &gt;20 files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User selects scope (≤500)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46520" y="2249424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625056" y="2157984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602425" y="2221992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6579793" y="2286000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557162" y="2350008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592824" y="1517904"/>
            <a:ext cx="1517904" cy="1536192"/>
          </a:xfrm>
          <a:prstGeom prst="rect">
            <a:avLst/>
          </a:prstGeom>
          <a:solidFill>
            <a:srgbClr val="D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592824" y="1517904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592824" y="1517904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675120" y="155448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675120" y="1719072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LLM Batch
Converter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75120" y="2093976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675120" y="2139696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Batch-convert tests (15/batch)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BDD / plain / step format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10728" y="2249424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289264" y="2157984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266633" y="2221992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244001" y="2286000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221370" y="2350008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257032" y="1517904"/>
            <a:ext cx="1517904" cy="1536192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257032" y="1517904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257032" y="1517904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339328" y="155448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39328" y="1719072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Excel
Builder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339328" y="2093976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39328" y="2139696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Build styled rows per format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Export .xlsx with filters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774936" y="2249424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9953472" y="2157984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9930841" y="2221992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908209" y="2286000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9885578" y="2350008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930384" y="1517904"/>
            <a:ext cx="1325880" cy="1536192"/>
          </a:xfrm>
          <a:prstGeom prst="rect">
            <a:avLst/>
          </a:prstGeom>
          <a:solidFill>
            <a:srgbClr val="E5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9930384" y="1517904"/>
            <a:ext cx="45720" cy="1536192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9930384" y="1517904"/>
            <a:ext cx="1325880" cy="3200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012680" y="1563624"/>
            <a:ext cx="1207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A66"/>
                </a:solidFill>
                <a:latin typeface="Segoe UI"/>
              </a:rPr>
              <a:t>OUTPUT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12680" y="1810512"/>
            <a:ext cx="1161288" cy="18288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0012680" y="1865376"/>
            <a:ext cx="12070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Structured test cases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BDD / plain / step-by-step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Test titles, steps,
expected results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53328" y="3072384"/>
            <a:ext cx="82296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070701" y="3127248"/>
            <a:ext cx="47548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6046927" y="3152851"/>
            <a:ext cx="95097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6023152" y="3178454"/>
            <a:ext cx="142646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5999378" y="3204057"/>
            <a:ext cx="190195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5975604" y="3229660"/>
            <a:ext cx="237744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0" y="3273552"/>
            <a:ext cx="12188952" cy="768096"/>
          </a:xfrm>
          <a:prstGeom prst="rect">
            <a:avLst/>
          </a:prstGeom>
          <a:solidFill>
            <a:srgbClr val="F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0" y="3273552"/>
            <a:ext cx="121889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0" y="4005072"/>
            <a:ext cx="121889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74320" y="3346704"/>
            <a:ext cx="3474720" cy="603504"/>
          </a:xfrm>
          <a:prstGeom prst="rect">
            <a:avLst/>
          </a:prstGeom>
          <a:solidFill>
            <a:srgbClr val="EE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274320" y="3346704"/>
            <a:ext cx="45720" cy="60350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84048" y="33649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A66"/>
                </a:solidFill>
                <a:latin typeface="Segoe UI"/>
              </a:rPr>
              <a:t>ANALYSER OUTPUT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84048" y="356616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Segoe UI"/>
              </a:rPr>
              <a:t>Structured test cases in BDD, plain, or step-by-step format — each test converted to human-readable title, steps &amp; expected result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023360" y="34015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A100FF"/>
                </a:solidFill>
                <a:latin typeface="Segoe UI"/>
              </a:rPr>
              <a:t>⟶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840480" y="3803904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100FF"/>
                </a:solidFill>
                <a:latin typeface="Segoe UI"/>
              </a:rPr>
              <a:t>DATA HANDSHAKE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77840" y="3456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1A"/>
                </a:solidFill>
                <a:latin typeface="Segoe UI"/>
              </a:rPr>
              <a:t>Passed as  test_cases  input
JSON / text descriptions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77840" y="380390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66666"/>
                </a:solidFill>
                <a:latin typeface="Segoe UI"/>
              </a:rPr>
              <a:t>No manual transfer required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38160" y="3346704"/>
            <a:ext cx="3749039" cy="603504"/>
          </a:xfrm>
          <a:prstGeom prst="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8138160" y="3346704"/>
            <a:ext cx="45720" cy="603504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247888" y="336499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66DD"/>
                </a:solidFill>
                <a:latin typeface="Segoe UI"/>
              </a:rPr>
              <a:t>STANDALONE AGENT INPUT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247888" y="3566160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Segoe UI"/>
              </a:rPr>
              <a:t>Drives prompt construction — test case titles &amp; steps define what code to generate; existing framework files define how to write it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053328" y="4059936"/>
            <a:ext cx="82296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6070701" y="4114800"/>
            <a:ext cx="47548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6046927" y="4140403"/>
            <a:ext cx="95097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6023152" y="4166006"/>
            <a:ext cx="142646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5999378" y="4191609"/>
            <a:ext cx="190195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5975604" y="4217212"/>
            <a:ext cx="237744" cy="25603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0" y="4261104"/>
            <a:ext cx="12188952" cy="256032"/>
          </a:xfrm>
          <a:prstGeom prst="rect">
            <a:avLst/>
          </a:prstGeom>
          <a:solidFill>
            <a:srgbClr val="D8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0" y="4261104"/>
            <a:ext cx="54864" cy="256032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182880" y="4306824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6DD"/>
                </a:solidFill>
                <a:latin typeface="Segoe UI"/>
              </a:rPr>
              <a:t>② STANDALONE AUTOMATION AGENT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937760" y="4315968"/>
            <a:ext cx="7040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Segoe UI"/>
              </a:rPr>
              <a:t>Profiles your automation framework and generates executable test scripts from the received test cases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4517136"/>
            <a:ext cx="1170432" cy="1536192"/>
          </a:xfrm>
          <a:prstGeom prst="rect">
            <a:avLst/>
          </a:prstGeom>
          <a:solidFill>
            <a:srgbClr val="E5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274320" y="4517136"/>
            <a:ext cx="45720" cy="1536192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274320" y="4517136"/>
            <a:ext cx="1170432" cy="32004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56616" y="456285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66DD"/>
                </a:solidFill>
                <a:latin typeface="Segoe UI"/>
              </a:rPr>
              <a:t>INPUT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56616" y="4809744"/>
            <a:ext cx="1005840" cy="18288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56616" y="4864608"/>
            <a:ext cx="1051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test_cases (from
Analyser output)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Project path
/ file map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Automation type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444752" y="5248656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623288" y="5157216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600657" y="5221224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578025" y="5285232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555394" y="5349240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600200" y="4517136"/>
            <a:ext cx="1517904" cy="1536192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600200" y="4517136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600200" y="4517136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682496" y="455371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682496" y="4718304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Framework
Profiler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1682496" y="5093208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1682496" y="5138928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Auto-detect language &amp; framework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Map project structure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118104" y="5248656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3296640" y="5157216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3274009" y="5221224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3251377" y="5285232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3228746" y="5349240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3264408" y="4517136"/>
            <a:ext cx="1517904" cy="1536192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3264408" y="4517136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3264408" y="4517136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346704" y="455371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02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346704" y="4718304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Pattern
Extractor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346704" y="5093208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3346704" y="5138928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Extract real methods &amp; objects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Discover config &amp; base URLs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782312" y="5248656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4960848" y="5157216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4938217" y="5221224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4915585" y="5285232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4892954" y="5349240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4928616" y="4517136"/>
            <a:ext cx="1517904" cy="1536192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4928616" y="4517136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4928616" y="4517136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5010912" y="455371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010912" y="4718304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Adaptive
Prompt Builder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010912" y="5093208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5010912" y="5138928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Learn team coding style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3-step fallback ladder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446520" y="5248656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6625056" y="5157216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6602425" y="5221224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6579793" y="5285232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6557162" y="5349240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6592824" y="4517136"/>
            <a:ext cx="1517904" cy="1536192"/>
          </a:xfrm>
          <a:prstGeom prst="rect">
            <a:avLst/>
          </a:prstGeom>
          <a:solidFill>
            <a:srgbClr val="D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6592824" y="4517136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6592824" y="4517136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6675120" y="455371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04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675120" y="4718304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LLM Code
Generator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675120" y="5093208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6675120" y="5138928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Generate complete test scripts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Reuses only real methods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110728" y="5248656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289264" y="5157216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8266633" y="5221224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8244001" y="5285232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8221370" y="5349240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8257032" y="4517136"/>
            <a:ext cx="1517904" cy="1536192"/>
          </a:xfrm>
          <a:prstGeom prst="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8257032" y="4517136"/>
            <a:ext cx="45720" cy="153619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8257032" y="4517136"/>
            <a:ext cx="1517904" cy="3200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8339328" y="455371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05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339328" y="4718304"/>
            <a:ext cx="1399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Validate
&amp; Heal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8339328" y="5093208"/>
            <a:ext cx="1353312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339328" y="5138928"/>
            <a:ext cx="139903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Syntax check all files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Auto-fix up to 2 passes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774936" y="5248656"/>
            <a:ext cx="120700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9953472" y="5157216"/>
            <a:ext cx="22631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9930841" y="5221224"/>
            <a:ext cx="45262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9908209" y="5285232"/>
            <a:ext cx="67894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9885578" y="5349240"/>
            <a:ext cx="90525" cy="6400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9930384" y="4517136"/>
            <a:ext cx="1325880" cy="1536192"/>
          </a:xfrm>
          <a:prstGeom prst="rect">
            <a:avLst/>
          </a:prstGeom>
          <a:solidFill>
            <a:srgbClr val="E5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9930384" y="4517136"/>
            <a:ext cx="45720" cy="1536192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9930384" y="4517136"/>
            <a:ext cx="1325880" cy="3200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0012680" y="4562856"/>
            <a:ext cx="1207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AA66"/>
                </a:solidFill>
                <a:latin typeface="Segoe UI"/>
              </a:rPr>
              <a:t>OUTPUT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012680" y="4809744"/>
            <a:ext cx="1161288" cy="18288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10012680" y="4864608"/>
            <a:ext cx="1207008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Runnable test scripts
(Python/Java/JS/C#)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Validation report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333344"/>
                </a:solidFill>
                <a:latin typeface="Segoe UI"/>
              </a:rPr>
              <a:t>• Healing log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0" y="5687568"/>
            <a:ext cx="12188952" cy="512064"/>
          </a:xfrm>
          <a:prstGeom prst="rect">
            <a:avLst/>
          </a:prstGeom>
          <a:solidFill>
            <a:srgbClr val="ED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Rectangle 205"/>
          <p:cNvSpPr/>
          <p:nvPr/>
        </p:nvSpPr>
        <p:spPr>
          <a:xfrm>
            <a:off x="0" y="5687568"/>
            <a:ext cx="12188952" cy="274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320040" y="58247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A100FF"/>
                </a:solidFill>
                <a:latin typeface="Segoe UI"/>
              </a:rPr>
              <a:t>INTEGRATIONS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417320" y="5779008"/>
            <a:ext cx="1826056" cy="310896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481328" y="5797296"/>
            <a:ext cx="17346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MCP Server (hosted)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3334816" y="5779008"/>
            <a:ext cx="2053742" cy="310896"/>
          </a:xfrm>
          <a:prstGeom prst="rect">
            <a:avLst/>
          </a:prstGeom>
          <a:solidFill>
            <a:srgbClr val="500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3398824" y="5797296"/>
            <a:ext cx="196230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Claude / Copilot (LLM)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479998" y="5779008"/>
            <a:ext cx="991209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5544006" y="5797296"/>
            <a:ext cx="89976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openpyxl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562647" y="5779008"/>
            <a:ext cx="1977847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6626655" y="5797296"/>
            <a:ext cx="1886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Selenium / Playwright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631934" y="5779008"/>
            <a:ext cx="1977847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8695942" y="5797296"/>
            <a:ext cx="188640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Cypress / RestAssured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10701221" y="5779008"/>
            <a:ext cx="1674266" cy="31089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10765229" y="5797296"/>
            <a:ext cx="158282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Segoe UI"/>
              </a:rPr>
              <a:t>VS Code Extension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035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Accenture</a:t>
            </a:r>
            <a:r>
              <a:rPr sz="1500" b="1">
                <a:solidFill>
                  <a:srgbClr val="A100FF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801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MCP Agent Architecture: Test Analyser  &amp;  Standalone Automation 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20" y="146304"/>
            <a:ext cx="1600200" cy="274320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51008" y="155448"/>
            <a:ext cx="156362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100FF"/>
                </a:solidFill>
                <a:latin typeface="Segoe UI"/>
              </a:rPr>
              <a:t>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7160" y="749808"/>
            <a:ext cx="3200400" cy="5650992"/>
          </a:xfrm>
          <a:prstGeom prst="roundRect">
            <a:avLst/>
          </a:prstGeom>
          <a:solidFill>
            <a:srgbClr val="F0E8FF"/>
          </a:solidFill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7160" y="749808"/>
            <a:ext cx="320040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" y="84124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Segoe UI"/>
              </a:rPr>
              <a:t>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" y="115214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6666"/>
                </a:solidFill>
                <a:latin typeface="Segoe UI"/>
              </a:rPr>
              <a:t>FastMCP  /  SSE  /  stdio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" y="1371600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66666"/>
                </a:solidFill>
                <a:latin typeface="Segoe UI"/>
              </a:rPr>
              <a:t>Routes MCP tool calls to the
appropriate agent at runtime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" y="1755648"/>
            <a:ext cx="2871216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1752" y="1828800"/>
            <a:ext cx="2871216" cy="2743200"/>
          </a:xfrm>
          <a:prstGeom prst="roundRect">
            <a:avLst/>
          </a:prstGeom>
          <a:solidFill>
            <a:srgbClr val="F8F5FF"/>
          </a:solidFill>
          <a:ln w="12700">
            <a:solidFill>
              <a:srgbClr val="BBA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3192" y="1938528"/>
            <a:ext cx="26883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40088"/>
                </a:solidFill>
                <a:latin typeface="Segoe UI"/>
              </a:rPr>
              <a:t>Available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" y="2167128"/>
            <a:ext cx="2688336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2267712"/>
            <a:ext cx="2779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00AA66"/>
                </a:solidFill>
                <a:latin typeface="Segoe UI"/>
              </a:rPr>
              <a:t>⚙  test_analyser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487168"/>
            <a:ext cx="2779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Segoe UI"/>
              </a:rPr>
              <a:t>Discover &amp; convert existing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" y="2688336"/>
            <a:ext cx="2779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2266DD"/>
                </a:solidFill>
                <a:latin typeface="Segoe UI"/>
              </a:rPr>
              <a:t>⚙  standalone_automation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2907792"/>
            <a:ext cx="2779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Segoe UI"/>
              </a:rPr>
              <a:t>Generate executable test scripts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" y="3108960"/>
            <a:ext cx="2779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A100FF"/>
                </a:solidFill>
                <a:latin typeface="Segoe UI"/>
              </a:rPr>
              <a:t>⚙  generate_test_cases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328416"/>
            <a:ext cx="2779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Segoe UI"/>
              </a:rPr>
              <a:t>Create tests from requirements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" y="3529584"/>
            <a:ext cx="2779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CC5500"/>
                </a:solidFill>
                <a:latin typeface="Segoe UI"/>
              </a:rPr>
              <a:t>⚙  analyse_requirements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749040"/>
            <a:ext cx="2779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Segoe UI"/>
              </a:rPr>
              <a:t>Parse requirement documents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" y="3950208"/>
            <a:ext cx="277977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885500"/>
                </a:solidFill>
                <a:latin typeface="Segoe UI"/>
              </a:rPr>
              <a:t>⚙  export_to_testrail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169664"/>
            <a:ext cx="27797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Segoe UI"/>
              </a:rPr>
              <a:t>Push results to TestRail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" y="5833872"/>
            <a:ext cx="2871216" cy="18288"/>
          </a:xfrm>
          <a:prstGeom prst="rect">
            <a:avLst/>
          </a:prstGeom>
          <a:solidFill>
            <a:srgbClr val="CC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38328" y="5925312"/>
            <a:ext cx="658368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" y="598017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A100FF"/>
                </a:solidFill>
                <a:latin typeface="Segoe UI"/>
              </a:rPr>
              <a:t>SSE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06424" y="5925312"/>
            <a:ext cx="658368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06424" y="598017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266DD"/>
                </a:solidFill>
                <a:latin typeface="Segoe UI"/>
              </a:rPr>
              <a:t>stdio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20" y="5925312"/>
            <a:ext cx="658368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74520" y="5980176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8844"/>
                </a:solidFill>
                <a:latin typeface="Segoe UI"/>
              </a:rPr>
              <a:t>HTTP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21024" y="804672"/>
            <a:ext cx="8458200" cy="2011680"/>
          </a:xfrm>
          <a:prstGeom prst="roundRect">
            <a:avLst/>
          </a:prstGeom>
          <a:solidFill>
            <a:srgbClr val="EEF9F4"/>
          </a:solidFill>
          <a:ln w="2540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621024" y="804672"/>
            <a:ext cx="8458200" cy="18288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621024" y="1115568"/>
            <a:ext cx="8458200" cy="18288"/>
          </a:xfrm>
          <a:prstGeom prst="rect">
            <a:avLst/>
          </a:prstGeom>
          <a:solidFill>
            <a:srgbClr val="BB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94176" y="85953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6644"/>
                </a:solidFill>
                <a:latin typeface="Segoe UI"/>
              </a:rPr>
              <a:t>  Test Analyser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877824"/>
            <a:ext cx="4325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Segoe UI"/>
              </a:rPr>
              <a:t>Reads existing test project  ›  Discovers tests  ›  Exports structured specifications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03320" y="117043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767328" y="121615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A66"/>
                </a:solidFill>
                <a:latin typeface="Segoe UI"/>
              </a:rPr>
              <a:t>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67328" y="137160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Language
Detector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67328" y="1737360"/>
            <a:ext cx="1402689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67328" y="179222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Check project markers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Identify test framework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2313" y="1961388"/>
            <a:ext cx="109728" cy="64008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5380329" y="117043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44337" y="121615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A66"/>
                </a:solidFill>
                <a:latin typeface="Segoe UI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4337" y="137160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Test
Discovery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44337" y="1737360"/>
            <a:ext cx="1402689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44337" y="179222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Walk files, find tests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Capture class + line no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29323" y="1961388"/>
            <a:ext cx="109728" cy="64008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057339" y="117043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21347" y="121615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A66"/>
                </a:solidFill>
                <a:latin typeface="Segoe UI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21347" y="137160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Scope
Selector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21347" y="1737360"/>
            <a:ext cx="1402689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21347" y="179222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Folder counts &gt; 20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User selects (≤ 500)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06332" y="1961388"/>
            <a:ext cx="109728" cy="64008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8734348" y="117043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0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798356" y="121615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600AA"/>
                </a:solidFill>
                <a:latin typeface="Segoe UI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98356" y="137160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LLM Batch
Converter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98356" y="1737360"/>
            <a:ext cx="1402689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98356" y="179222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Groups of 15 tests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BDD / plain / step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283342" y="1961388"/>
            <a:ext cx="109728" cy="64008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0411358" y="117043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475366" y="121615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8844"/>
                </a:solidFill>
                <a:latin typeface="Segoe UI"/>
              </a:rPr>
              <a:t>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75366" y="137160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Excel
Builder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475366" y="1737360"/>
            <a:ext cx="1402689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475366" y="179222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Build styled rows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Export .xlsx + filters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03320" y="2596896"/>
            <a:ext cx="8311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7744"/>
                </a:solidFill>
                <a:latin typeface="Segoe UI"/>
              </a:rPr>
              <a:t>OUTPUT  ›  Structured test cases  (BDD / plain / step)  →  passed as test_cases to Standalone Agent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37560" y="1773936"/>
            <a:ext cx="228600" cy="73152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3621024" y="2862072"/>
            <a:ext cx="8458200" cy="457200"/>
          </a:xfrm>
          <a:prstGeom prst="roundRect">
            <a:avLst/>
          </a:prstGeom>
          <a:solidFill>
            <a:srgbClr val="FFF4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3712464" y="2926080"/>
            <a:ext cx="3575486" cy="329184"/>
          </a:xfrm>
          <a:prstGeom prst="roundRect">
            <a:avLst/>
          </a:prstGeom>
          <a:solidFill>
            <a:srgbClr val="E8FFF2"/>
          </a:solidFill>
          <a:ln w="1270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803904" y="2990088"/>
            <a:ext cx="339260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6644"/>
                </a:solidFill>
                <a:latin typeface="Segoe UI"/>
              </a:rPr>
              <a:t>ANALYSER OUTPUT  ›  Structured test cases  (BDD / plain / step-by-step)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91172" y="2871216"/>
            <a:ext cx="14630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Segoe UI"/>
              </a:rPr>
              <a:t>⟶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1172" y="3154680"/>
            <a:ext cx="14630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A100FF"/>
                </a:solidFill>
                <a:latin typeface="Segoe UI"/>
              </a:rPr>
              <a:t>DATA HANDSHAKE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412297" y="2926080"/>
            <a:ext cx="3575486" cy="329184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503737" y="2990088"/>
            <a:ext cx="343832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4499"/>
                </a:solidFill>
                <a:latin typeface="Segoe UI"/>
              </a:rPr>
              <a:t>STANDALONE INPUT  ›  test_cases param drives code generation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21024" y="3364992"/>
            <a:ext cx="8458200" cy="2011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621024" y="3364992"/>
            <a:ext cx="8458200" cy="18288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3621024" y="3675888"/>
            <a:ext cx="8458200" cy="18288"/>
          </a:xfrm>
          <a:prstGeom prst="rect">
            <a:avLst/>
          </a:prstGeom>
          <a:solidFill>
            <a:srgbClr val="BB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694176" y="341985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44AA"/>
                </a:solidFill>
                <a:latin typeface="Segoe UI"/>
              </a:rPr>
              <a:t>  Standalone Automation Agent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89520" y="3438144"/>
            <a:ext cx="43251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  <a:latin typeface="Segoe UI"/>
              </a:rPr>
              <a:t>Profiles existing framework  ›  Generates &amp; validates production-ready test scripts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703320" y="373075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767328" y="377647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66DD"/>
                </a:solidFill>
                <a:latin typeface="Segoe UI"/>
              </a:rPr>
              <a:t>01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67328" y="393192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Framework
Profiler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767328" y="4297680"/>
            <a:ext cx="1402689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767328" y="435254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Detect language &amp; fw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Map project structure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52313" y="4521708"/>
            <a:ext cx="109728" cy="64008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89"/>
          <p:cNvSpPr/>
          <p:nvPr/>
        </p:nvSpPr>
        <p:spPr>
          <a:xfrm>
            <a:off x="5380329" y="373075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444337" y="377647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66DD"/>
                </a:solidFill>
                <a:latin typeface="Segoe UI"/>
              </a:rPr>
              <a:t>02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44337" y="393192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Pattern
Extractor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44337" y="4297680"/>
            <a:ext cx="1402689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444337" y="435254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Extract real methods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Discover config / URLs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929323" y="4521708"/>
            <a:ext cx="109728" cy="64008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7057339" y="373075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121347" y="377647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66DD"/>
                </a:solidFill>
                <a:latin typeface="Segoe UI"/>
              </a:rPr>
              <a:t>03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21347" y="393192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Adaptive
Prompt Builder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21347" y="4297680"/>
            <a:ext cx="1402689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121347" y="435254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Learn coding style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3-step fallback ladder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06332" y="4521708"/>
            <a:ext cx="109728" cy="64008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8734348" y="373075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0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798356" y="377647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600AA"/>
                </a:solidFill>
                <a:latin typeface="Segoe UI"/>
              </a:rPr>
              <a:t>04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798356" y="393192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LLM Code
Generator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798356" y="4297680"/>
            <a:ext cx="1402689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798356" y="435254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Generate full scripts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Reuse real methods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283342" y="4521708"/>
            <a:ext cx="109728" cy="64008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ounded Rectangle 107"/>
          <p:cNvSpPr/>
          <p:nvPr/>
        </p:nvSpPr>
        <p:spPr>
          <a:xfrm>
            <a:off x="10411358" y="3730752"/>
            <a:ext cx="153070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475366" y="3776472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66AA"/>
                </a:solidFill>
                <a:latin typeface="Segoe UI"/>
              </a:rPr>
              <a:t>05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475366" y="3931920"/>
            <a:ext cx="143926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1A"/>
                </a:solidFill>
                <a:latin typeface="Segoe UI"/>
              </a:rPr>
              <a:t>Validate
&amp; Heal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475366" y="4297680"/>
            <a:ext cx="1402689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10475366" y="4352544"/>
            <a:ext cx="1439265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Syntax check all files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Auto-fix (2 passes)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703320" y="5157216"/>
            <a:ext cx="8311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244AA"/>
                </a:solidFill>
                <a:latin typeface="Segoe UI"/>
              </a:rPr>
              <a:t>OUTPUT  ›  Executable test scripts  (Python / Java / JavaScript / C#)  ·  Validation report  ·  Healing log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337560" y="4334256"/>
            <a:ext cx="228600" cy="73152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7786116" y="5449824"/>
            <a:ext cx="73152" cy="164592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3621024" y="5632704"/>
            <a:ext cx="8458200" cy="329184"/>
          </a:xfrm>
          <a:prstGeom prst="roundRect">
            <a:avLst/>
          </a:prstGeom>
          <a:solidFill>
            <a:srgbClr val="EAF8F0"/>
          </a:solidFill>
          <a:ln w="2286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3749040" y="5705856"/>
            <a:ext cx="814730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7744"/>
                </a:solidFill>
                <a:latin typeface="Segoe UI"/>
              </a:rPr>
              <a:t>⚡  EXECUTABLE AUTOMATION SCRIPTS   (Playwright  /  Selenium  /  Pytest  /  TestNG)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86116" y="5998464"/>
            <a:ext cx="73152" cy="14630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ounded Rectangle 118"/>
          <p:cNvSpPr/>
          <p:nvPr/>
        </p:nvSpPr>
        <p:spPr>
          <a:xfrm>
            <a:off x="3621024" y="6163056"/>
            <a:ext cx="8458200" cy="274320"/>
          </a:xfrm>
          <a:prstGeom prst="roundRect">
            <a:avLst/>
          </a:prstGeom>
          <a:solidFill>
            <a:srgbClr val="F2F0F8"/>
          </a:solidFill>
          <a:ln w="12700">
            <a:solidFill>
              <a:srgbClr val="BBB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749040" y="6227064"/>
            <a:ext cx="814730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Segoe UI"/>
              </a:rPr>
              <a:t>📦  ARTIFACT REPOSITORY / DOWNLOADS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365760" y="651967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Segoe UI"/>
              </a:rPr>
              <a:t>Quality Engineering Agentic Framework  |  Accenture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686800" y="65196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Segoe UI"/>
              </a:rPr>
              <a:t>© 2025 Accenture.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60822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12188952" cy="6035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2743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Segoe UI"/>
              </a:rPr>
              <a:t>Accenture</a:t>
            </a:r>
            <a:r>
              <a:rPr sz="1500" b="1">
                <a:solidFill>
                  <a:srgbClr val="A100FF"/>
                </a:solidFill>
                <a:latin typeface="Segoe U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8016"/>
            <a:ext cx="7132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Segoe UI"/>
              </a:rPr>
              <a:t>System Architecture: QEAF Agents with MCP &amp; AI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332720" y="146304"/>
            <a:ext cx="1600200" cy="274320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51008" y="155448"/>
            <a:ext cx="15636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 dirty="0">
                <a:solidFill>
                  <a:schemeClr val="bg1"/>
                </a:solidFill>
                <a:latin typeface="Segoe UI"/>
              </a:rPr>
              <a:t>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9728" y="804672"/>
            <a:ext cx="36576" cy="932688"/>
          </a:xfrm>
          <a:prstGeom prst="rect">
            <a:avLst/>
          </a:prstGeom>
          <a:solidFill>
            <a:srgbClr val="44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" y="1060704"/>
            <a:ext cx="76809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440088"/>
                </a:solidFill>
                <a:latin typeface="Segoe UI"/>
              </a:rPr>
              <a:t>ENTRY
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4043" y="841248"/>
            <a:ext cx="2134209" cy="932688"/>
          </a:xfrm>
          <a:prstGeom prst="roundRect">
            <a:avLst/>
          </a:prstGeom>
          <a:solidFill>
            <a:srgbClr val="F7F5FA"/>
          </a:solidFill>
          <a:ln w="1905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33771" y="932688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Segoe UI"/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2955" y="896112"/>
            <a:ext cx="162214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 dirty="0">
                <a:solidFill>
                  <a:srgbClr val="1A1A1A"/>
                </a:solidFill>
                <a:latin typeface="Segoe UI"/>
              </a:rPr>
              <a:t>GitHub Copilot
&amp; VS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3771" y="1316736"/>
            <a:ext cx="195132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 dirty="0">
                <a:solidFill>
                  <a:srgbClr val="666666"/>
                </a:solidFill>
                <a:latin typeface="Segoe UI"/>
              </a:rPr>
              <a:t>MCP Extension
native tool calls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98464" y="1773936"/>
            <a:ext cx="64008" cy="1280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9728" y="1920240"/>
            <a:ext cx="11969496" cy="457200"/>
          </a:xfrm>
          <a:prstGeom prst="roundRect">
            <a:avLst/>
          </a:prstGeom>
          <a:solidFill>
            <a:srgbClr val="F0E8FF"/>
          </a:solidFill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9728" y="1920240"/>
            <a:ext cx="11969496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201168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Segoe UI"/>
              </a:rPr>
              <a:t>MCP SERVER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8393" y="20665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666666"/>
                </a:solidFill>
                <a:latin typeface="Segoe UI"/>
              </a:rPr>
              <a:t>Registered tools: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04994" y="2035193"/>
            <a:ext cx="1323138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37913" y="2063253"/>
            <a:ext cx="1249986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dirty="0">
                <a:solidFill>
                  <a:srgbClr val="00AA66"/>
                </a:solidFill>
                <a:latin typeface="Segoe UI"/>
              </a:rPr>
              <a:t>⚙ </a:t>
            </a:r>
            <a:r>
              <a:rPr lang="en-GB" sz="750" b="1" dirty="0">
                <a:solidFill>
                  <a:srgbClr val="00AA66"/>
                </a:solidFill>
                <a:latin typeface="Segoe UI"/>
              </a:rPr>
              <a:t>T</a:t>
            </a:r>
            <a:r>
              <a:rPr sz="750" b="1" i="0" dirty="0" err="1">
                <a:solidFill>
                  <a:srgbClr val="00AA66"/>
                </a:solidFill>
                <a:latin typeface="Segoe UI"/>
              </a:rPr>
              <a:t>est_analyser</a:t>
            </a:r>
            <a:r>
              <a:rPr lang="en-GB" sz="750" b="1" i="0" dirty="0">
                <a:solidFill>
                  <a:srgbClr val="00AA66"/>
                </a:solidFill>
                <a:latin typeface="Segoe UI"/>
              </a:rPr>
              <a:t> Agent</a:t>
            </a:r>
            <a:endParaRPr sz="750" b="1" i="0" dirty="0">
              <a:solidFill>
                <a:srgbClr val="00AA66"/>
              </a:solidFill>
              <a:latin typeface="Segoe UI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957316" y="2029968"/>
            <a:ext cx="164592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03036" y="2075688"/>
            <a:ext cx="1554480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 dirty="0">
                <a:solidFill>
                  <a:srgbClr val="2266DD"/>
                </a:solidFill>
                <a:latin typeface="Segoe UI"/>
              </a:rPr>
              <a:t>⚙ _</a:t>
            </a:r>
            <a:r>
              <a:rPr lang="en-GB" sz="750" b="1" dirty="0">
                <a:solidFill>
                  <a:srgbClr val="2266DD"/>
                </a:solidFill>
                <a:latin typeface="Segoe UI"/>
              </a:rPr>
              <a:t>A</a:t>
            </a:r>
            <a:r>
              <a:rPr sz="750" b="1" i="0" dirty="0" err="1">
                <a:solidFill>
                  <a:srgbClr val="2266DD"/>
                </a:solidFill>
                <a:latin typeface="Segoe UI"/>
              </a:rPr>
              <a:t>utomation</a:t>
            </a:r>
            <a:r>
              <a:rPr lang="en-GB" sz="750" b="1" i="0" dirty="0">
                <a:solidFill>
                  <a:srgbClr val="2266DD"/>
                </a:solidFill>
                <a:latin typeface="Segoe UI"/>
              </a:rPr>
              <a:t> Agent</a:t>
            </a:r>
            <a:endParaRPr sz="750" b="1" i="0" dirty="0">
              <a:solidFill>
                <a:srgbClr val="2266DD"/>
              </a:solidFill>
              <a:latin typeface="Segoe U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752376" y="2414450"/>
            <a:ext cx="64008" cy="128016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7194956" y="2414885"/>
            <a:ext cx="64008" cy="128016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9728" y="2572946"/>
            <a:ext cx="5408676" cy="1828800"/>
          </a:xfrm>
          <a:prstGeom prst="roundRect">
            <a:avLst/>
          </a:prstGeom>
          <a:solidFill>
            <a:srgbClr val="EDF8F3"/>
          </a:solidFill>
          <a:ln w="2540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19456" y="2627810"/>
            <a:ext cx="3108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7744"/>
                </a:solidFill>
                <a:latin typeface="Segoe UI"/>
              </a:rPr>
              <a:t>  Test Analyser 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22429" y="2615399"/>
            <a:ext cx="19705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 dirty="0">
                <a:solidFill>
                  <a:srgbClr val="666666"/>
                </a:solidFill>
                <a:latin typeface="Segoe UI"/>
              </a:rPr>
              <a:t>Reads test project  ›  Discovers tests  ›  Converts to structured specification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10312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5176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AA66"/>
                </a:solidFill>
                <a:latin typeface="Segoe UI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5176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Language
Detector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65176" y="3441625"/>
            <a:ext cx="865936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65176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Check project markers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Identify test framework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95120" y="3533066"/>
            <a:ext cx="64008" cy="5486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268272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323136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AA66"/>
                </a:solidFill>
                <a:latin typeface="Segoe UI"/>
              </a:rPr>
              <a:t>02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23136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Test
Discovery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23136" y="3441625"/>
            <a:ext cx="865936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323136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Walk file tree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Find test classes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53081" y="3533066"/>
            <a:ext cx="64008" cy="5486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2326233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2381097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AA66"/>
                </a:solidFill>
                <a:latin typeface="Segoe UI"/>
              </a:rPr>
              <a:t>03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81097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Scope
Selector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381097" y="3441625"/>
            <a:ext cx="865936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381097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Count per folder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Select up to 500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311042" y="3533066"/>
            <a:ext cx="64008" cy="5486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3384194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0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439058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00AA"/>
                </a:solidFill>
                <a:latin typeface="Segoe UI"/>
              </a:rPr>
              <a:t>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39058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LLM Batch
Converter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439058" y="3441625"/>
            <a:ext cx="865936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439058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Groups of 15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BDD / plain / step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369003" y="3533066"/>
            <a:ext cx="64008" cy="54864"/>
          </a:xfrm>
          <a:prstGeom prst="rect">
            <a:avLst/>
          </a:prstGeom>
          <a:solidFill>
            <a:srgbClr val="00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ounded Rectangle 82"/>
          <p:cNvSpPr/>
          <p:nvPr/>
        </p:nvSpPr>
        <p:spPr>
          <a:xfrm>
            <a:off x="4442155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497019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8844"/>
                </a:solidFill>
                <a:latin typeface="Segoe UI"/>
              </a:rPr>
              <a:t>05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97019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Excel
Builder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497019" y="3441625"/>
            <a:ext cx="865936" cy="18288"/>
          </a:xfrm>
          <a:prstGeom prst="rect">
            <a:avLst/>
          </a:prstGeom>
          <a:solidFill>
            <a:srgbClr val="CC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4497019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Build styled rows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Export .xlsx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9456" y="4200578"/>
            <a:ext cx="52257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7744"/>
                </a:solidFill>
                <a:latin typeface="Segoe UI"/>
              </a:rPr>
              <a:t>OUTPUT  ›  Structured test cases (.xlsx)  +  test_cases JSON  →  input to Standalone Agent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591556" y="2572946"/>
            <a:ext cx="1005840" cy="1828800"/>
          </a:xfrm>
          <a:prstGeom prst="roundRect">
            <a:avLst/>
          </a:prstGeom>
          <a:solidFill>
            <a:srgbClr val="FFF3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591556" y="279240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A100FF"/>
                </a:solidFill>
                <a:latin typeface="Segoe UI"/>
              </a:rPr>
              <a:t>DATA
HANDSHAKE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591556" y="3286178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1A"/>
                </a:solidFill>
                <a:latin typeface="Segoe UI"/>
              </a:rPr>
              <a:t>test_cases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91556" y="3505634"/>
            <a:ext cx="10058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 dirty="0">
                <a:solidFill>
                  <a:srgbClr val="666666"/>
                </a:solidFill>
                <a:latin typeface="Segoe UI"/>
              </a:rPr>
              <a:t>JSON payload</a:t>
            </a:r>
            <a:r>
              <a:rPr lang="en-GB" sz="750" b="0" i="1" dirty="0">
                <a:solidFill>
                  <a:srgbClr val="666666"/>
                </a:solidFill>
                <a:latin typeface="Segoe UI"/>
              </a:rPr>
              <a:t> / BDD</a:t>
            </a:r>
            <a:endParaRPr sz="750" b="0" i="1" dirty="0">
              <a:solidFill>
                <a:srgbClr val="666666"/>
              </a:solidFill>
              <a:latin typeface="Segoe UI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5591556" y="4325983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A100FF"/>
                </a:solidFill>
                <a:latin typeface="Segoe UI"/>
              </a:rPr>
              <a:t>↓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670548" y="2572946"/>
            <a:ext cx="5408676" cy="1828800"/>
          </a:xfrm>
          <a:prstGeom prst="roundRect">
            <a:avLst/>
          </a:prstGeom>
          <a:solidFill>
            <a:srgbClr val="EDF2FF"/>
          </a:solidFill>
          <a:ln w="2540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780276" y="2627810"/>
            <a:ext cx="3291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244AA"/>
                </a:solidFill>
                <a:latin typeface="Segoe UI"/>
              </a:rPr>
              <a:t>  Standalone Automation Agent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108692" y="2583398"/>
            <a:ext cx="18059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 dirty="0">
                <a:solidFill>
                  <a:srgbClr val="666666"/>
                </a:solidFill>
                <a:latin typeface="Segoe UI"/>
              </a:rPr>
              <a:t>Profiles framework  ›  Generates &amp; validates production-ready test scripts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771132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825996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266DD"/>
                </a:solidFill>
                <a:latin typeface="Segoe UI"/>
              </a:rPr>
              <a:t>01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25996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Framework
Profiler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25996" y="3441625"/>
            <a:ext cx="865936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825996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Detect language &amp; fw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Map project structure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755940" y="3533066"/>
            <a:ext cx="64008" cy="54864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ounded Rectangle 105"/>
          <p:cNvSpPr/>
          <p:nvPr/>
        </p:nvSpPr>
        <p:spPr>
          <a:xfrm>
            <a:off x="7829092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883956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266DD"/>
                </a:solidFill>
                <a:latin typeface="Segoe UI"/>
              </a:rPr>
              <a:t>02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83956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Pattern
Extractor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883956" y="3441625"/>
            <a:ext cx="865936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7883956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Real helper methods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Config &amp; base URLs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813901" y="3533066"/>
            <a:ext cx="64008" cy="54864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8887053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6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941917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266DD"/>
                </a:solidFill>
                <a:latin typeface="Segoe UI"/>
              </a:rPr>
              <a:t>03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41917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Adaptive
Prompt Builder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41917" y="3441625"/>
            <a:ext cx="865936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41917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Learn coding style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3-step fallback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871862" y="3533066"/>
            <a:ext cx="64008" cy="54864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9945014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60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9999878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6600AA"/>
                </a:solidFill>
                <a:latin typeface="Segoe UI"/>
              </a:rPr>
              <a:t>04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999878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LLM Code
Generator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999878" y="3441625"/>
            <a:ext cx="865936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999878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Generate full scripts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Reuse real methods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929823" y="3533066"/>
            <a:ext cx="64008" cy="54864"/>
          </a:xfrm>
          <a:prstGeom prst="rect">
            <a:avLst/>
          </a:prstGeom>
          <a:solidFill>
            <a:srgbClr val="2266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ounded Rectangle 123"/>
          <p:cNvSpPr/>
          <p:nvPr/>
        </p:nvSpPr>
        <p:spPr>
          <a:xfrm>
            <a:off x="11002975" y="2920418"/>
            <a:ext cx="975664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2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1057839" y="2956994"/>
            <a:ext cx="90251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266AA"/>
                </a:solidFill>
                <a:latin typeface="Segoe UI"/>
              </a:rPr>
              <a:t>05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1057839" y="3121586"/>
            <a:ext cx="902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1A1A1A"/>
                </a:solidFill>
                <a:latin typeface="Segoe UI"/>
              </a:rPr>
              <a:t>Validate
&amp; Heal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1057839" y="3441625"/>
            <a:ext cx="865936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1057839" y="3487346"/>
            <a:ext cx="9025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Syntax check all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666666"/>
                </a:solidFill>
                <a:latin typeface="Segoe UI"/>
              </a:rPr>
              <a:t>• Auto-fix 2 passes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780276" y="4200578"/>
            <a:ext cx="522579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244AA"/>
                </a:solidFill>
                <a:latin typeface="Segoe UI"/>
              </a:rPr>
              <a:t>OUTPUT  ›  Executable scripts  (Python / Java / JS / C#)  ·  Validation report  ·  Healing log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782062" y="4429178"/>
            <a:ext cx="64008" cy="128016"/>
          </a:xfrm>
          <a:prstGeom prst="rect">
            <a:avLst/>
          </a:prstGeom>
          <a:solidFill>
            <a:srgbClr val="66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9342882" y="4429178"/>
            <a:ext cx="64008" cy="128016"/>
          </a:xfrm>
          <a:prstGeom prst="rect">
            <a:avLst/>
          </a:prstGeom>
          <a:solidFill>
            <a:srgbClr val="660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ounded Rectangle 131"/>
          <p:cNvSpPr/>
          <p:nvPr/>
        </p:nvSpPr>
        <p:spPr>
          <a:xfrm>
            <a:off x="109728" y="4584626"/>
            <a:ext cx="11969496" cy="713232"/>
          </a:xfrm>
          <a:prstGeom prst="roundRect">
            <a:avLst/>
          </a:prstGeom>
          <a:solidFill>
            <a:srgbClr val="FFF5E8"/>
          </a:solidFill>
          <a:ln w="19050">
            <a:solidFill>
              <a:srgbClr val="BB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219456" y="4767506"/>
            <a:ext cx="804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 dirty="0">
                <a:solidFill>
                  <a:srgbClr val="774400"/>
                </a:solidFill>
                <a:latin typeface="Segoe UI"/>
              </a:rPr>
              <a:t>AI / LLM
SERVICES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106922" y="4657778"/>
            <a:ext cx="2134209" cy="438912"/>
          </a:xfrm>
          <a:prstGeom prst="roundRect">
            <a:avLst/>
          </a:prstGeom>
          <a:solidFill>
            <a:srgbClr val="F2F2F5"/>
          </a:solidFill>
          <a:ln w="1524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5100459" y="4761770"/>
            <a:ext cx="198790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" b="1" i="0" dirty="0">
                <a:solidFill>
                  <a:srgbClr val="1A1A2E"/>
                </a:solidFill>
                <a:latin typeface="Segoe UI"/>
              </a:rPr>
              <a:t>GitHub Copilot API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228996" y="4828223"/>
            <a:ext cx="3804775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 dirty="0">
                <a:solidFill>
                  <a:srgbClr val="886600"/>
                </a:solidFill>
                <a:latin typeface="Segoe UI"/>
              </a:rPr>
              <a:t>⇅  Agents call at runtime — pluggable, model-agnostic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154183" y="5233850"/>
            <a:ext cx="64008" cy="1280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ounded Rectangle 148"/>
          <p:cNvSpPr/>
          <p:nvPr/>
        </p:nvSpPr>
        <p:spPr>
          <a:xfrm>
            <a:off x="109728" y="5530812"/>
            <a:ext cx="4787798" cy="493776"/>
          </a:xfrm>
          <a:prstGeom prst="roundRect">
            <a:avLst/>
          </a:prstGeom>
          <a:solidFill>
            <a:srgbClr val="F0F4FF"/>
          </a:solidFill>
          <a:ln w="15240">
            <a:solidFill>
              <a:srgbClr val="88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237744" y="5677116"/>
            <a:ext cx="458663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4488"/>
                </a:solidFill>
                <a:latin typeface="Segoe UI"/>
              </a:rPr>
              <a:t>INPUT  ›  Existing test project  (Python / Java / JS / C#)  ·  Manual test specs  ·  Requirements docs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007254" y="5530815"/>
            <a:ext cx="7071969" cy="493776"/>
          </a:xfrm>
          <a:prstGeom prst="roundRect">
            <a:avLst/>
          </a:prstGeom>
          <a:solidFill>
            <a:srgbClr val="EEF8F3"/>
          </a:solidFill>
          <a:ln w="15240">
            <a:solidFill>
              <a:srgbClr val="00A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5135270" y="5677119"/>
            <a:ext cx="679764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007744"/>
                </a:solidFill>
                <a:latin typeface="Segoe UI"/>
              </a:rPr>
              <a:t>OUTPUT  ›  Excel test cases (.xlsx)  ·  </a:t>
            </a:r>
            <a:r>
              <a:rPr sz="800" b="0" i="0" dirty="0" err="1">
                <a:solidFill>
                  <a:srgbClr val="007744"/>
                </a:solidFill>
                <a:latin typeface="Segoe UI"/>
              </a:rPr>
              <a:t>test_cases</a:t>
            </a:r>
            <a:r>
              <a:rPr sz="800" b="0" i="0" dirty="0">
                <a:solidFill>
                  <a:srgbClr val="007744"/>
                </a:solidFill>
                <a:latin typeface="Segoe UI"/>
              </a:rPr>
              <a:t> JSON  ·  Executable scripts  ·  Artifact repository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365760" y="6519672"/>
            <a:ext cx="8229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77777"/>
                </a:solidFill>
                <a:latin typeface="Segoe UI"/>
              </a:rPr>
              <a:t>Quality Engineering Agentic Framework  |  Accenture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686800" y="651967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555555"/>
                </a:solidFill>
                <a:latin typeface="Segoe UI"/>
              </a:rPr>
              <a:t>© 2025 Accenture.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2630</Words>
  <Application>Microsoft Macintosh PowerPoint</Application>
  <PresentationFormat>Custom</PresentationFormat>
  <Paragraphs>470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EXTERNAL-SANKAR, Prabhakaran (NHS ENGLAND)</cp:lastModifiedBy>
  <cp:revision>2</cp:revision>
  <dcterms:created xsi:type="dcterms:W3CDTF">2013-01-27T09:14:16Z</dcterms:created>
  <dcterms:modified xsi:type="dcterms:W3CDTF">2026-06-26T08:51:37Z</dcterms:modified>
  <cp:category/>
</cp:coreProperties>
</file>